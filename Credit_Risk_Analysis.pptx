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A3A3A"/>
                </a:solidFill>
                <a:latin typeface="Cambria"/>
              </a:rPr>
              <a:t>Test-Set Accuracy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CA3C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XGBoost
(Base)</c:v>
                </c:pt>
                <c:pt idx="2">
                  <c:v>GRU
RNN (test)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0.76</c:v>
                </c:pt>
                <c:pt idx="2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3-4FDE-BB60-DBA5E53ED0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DE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A3A3A"/>
                </a:solidFill>
                <a:latin typeface="Cambria"/>
              </a:rPr>
              <a:t>Precision / Recall / F1 by Credit Score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8CA3C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Poor</c:v>
                </c:pt>
                <c:pt idx="1">
                  <c:v>Good</c:v>
                </c:pt>
                <c:pt idx="2">
                  <c:v>Standard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</c:v>
                </c:pt>
                <c:pt idx="1">
                  <c:v>0.68</c:v>
                </c:pt>
                <c:pt idx="2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56-4FFB-9C2E-9C1CB00010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C6B6D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Poor</c:v>
                </c:pt>
                <c:pt idx="1">
                  <c:v>Good</c:v>
                </c:pt>
                <c:pt idx="2">
                  <c:v>Standard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</c:v>
                </c:pt>
                <c:pt idx="1">
                  <c:v>0.69</c:v>
                </c:pt>
                <c:pt idx="2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56-4FFB-9C2E-9C1CB00010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3AFA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Poor</c:v>
                </c:pt>
                <c:pt idx="1">
                  <c:v>Good</c:v>
                </c:pt>
                <c:pt idx="2">
                  <c:v>Standard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0.75</c:v>
                </c:pt>
                <c:pt idx="1">
                  <c:v>0.69</c:v>
                </c:pt>
                <c:pt idx="2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56-4FFB-9C2E-9C1CB00010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DE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6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3A3A3A"/>
                </a:solidFill>
                <a:latin typeface="Cambria"/>
              </a:rPr>
              <a:t>Accuracy over 25 Epochs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ln w="31750" cap="flat">
              <a:solidFill>
                <a:srgbClr val="8CA3C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4">
                  <c:v>5</c:v>
                </c:pt>
                <c:pt idx="9">
                  <c:v>10</c:v>
                </c:pt>
                <c:pt idx="14">
                  <c:v>15</c:v>
                </c:pt>
                <c:pt idx="19">
                  <c:v>20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0.51939999999999997</c:v>
                </c:pt>
                <c:pt idx="1">
                  <c:v>0.59789999999999999</c:v>
                </c:pt>
                <c:pt idx="2">
                  <c:v>0.6069</c:v>
                </c:pt>
                <c:pt idx="3">
                  <c:v>0.61719999999999997</c:v>
                </c:pt>
                <c:pt idx="4">
                  <c:v>0.62219999999999998</c:v>
                </c:pt>
                <c:pt idx="5">
                  <c:v>0.63470000000000004</c:v>
                </c:pt>
                <c:pt idx="6">
                  <c:v>0.63349999999999995</c:v>
                </c:pt>
                <c:pt idx="7">
                  <c:v>0.63639999999999997</c:v>
                </c:pt>
                <c:pt idx="8">
                  <c:v>0.64439999999999997</c:v>
                </c:pt>
                <c:pt idx="9">
                  <c:v>0.64990000000000003</c:v>
                </c:pt>
                <c:pt idx="10">
                  <c:v>0.64600000000000002</c:v>
                </c:pt>
                <c:pt idx="11">
                  <c:v>0.64610000000000001</c:v>
                </c:pt>
                <c:pt idx="12">
                  <c:v>0.65749999999999997</c:v>
                </c:pt>
                <c:pt idx="13">
                  <c:v>0.65449999999999997</c:v>
                </c:pt>
                <c:pt idx="14">
                  <c:v>0.65939999999999999</c:v>
                </c:pt>
                <c:pt idx="15">
                  <c:v>0.67030000000000001</c:v>
                </c:pt>
                <c:pt idx="16">
                  <c:v>0.66930000000000001</c:v>
                </c:pt>
                <c:pt idx="17">
                  <c:v>0.67520000000000002</c:v>
                </c:pt>
                <c:pt idx="18">
                  <c:v>0.67610000000000003</c:v>
                </c:pt>
                <c:pt idx="19">
                  <c:v>0.68469999999999998</c:v>
                </c:pt>
                <c:pt idx="20">
                  <c:v>0.68779999999999997</c:v>
                </c:pt>
                <c:pt idx="21">
                  <c:v>0.69350000000000001</c:v>
                </c:pt>
                <c:pt idx="22">
                  <c:v>0.69589999999999996</c:v>
                </c:pt>
                <c:pt idx="23">
                  <c:v>0.70109999999999995</c:v>
                </c:pt>
                <c:pt idx="24">
                  <c:v>0.69969999999999999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55-42AF-8FC3-EB56325439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ln w="31750" cap="flat">
              <a:solidFill>
                <a:srgbClr val="E3AFA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4">
                  <c:v>5</c:v>
                </c:pt>
                <c:pt idx="9">
                  <c:v>10</c:v>
                </c:pt>
                <c:pt idx="14">
                  <c:v>15</c:v>
                </c:pt>
                <c:pt idx="19">
                  <c:v>20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0.59850000000000003</c:v>
                </c:pt>
                <c:pt idx="1">
                  <c:v>0.6069</c:v>
                </c:pt>
                <c:pt idx="2">
                  <c:v>0.60009999999999997</c:v>
                </c:pt>
                <c:pt idx="3">
                  <c:v>0.61250000000000004</c:v>
                </c:pt>
                <c:pt idx="4">
                  <c:v>0.60450000000000004</c:v>
                </c:pt>
                <c:pt idx="5">
                  <c:v>0.61250000000000004</c:v>
                </c:pt>
                <c:pt idx="6">
                  <c:v>0.61850000000000005</c:v>
                </c:pt>
                <c:pt idx="7">
                  <c:v>0.61770000000000003</c:v>
                </c:pt>
                <c:pt idx="8">
                  <c:v>0.62690000000000001</c:v>
                </c:pt>
                <c:pt idx="9">
                  <c:v>0.62250000000000005</c:v>
                </c:pt>
                <c:pt idx="10">
                  <c:v>0.62849999999999995</c:v>
                </c:pt>
                <c:pt idx="11">
                  <c:v>0.61970000000000003</c:v>
                </c:pt>
                <c:pt idx="12">
                  <c:v>0.61570000000000003</c:v>
                </c:pt>
                <c:pt idx="13">
                  <c:v>0.62290000000000001</c:v>
                </c:pt>
                <c:pt idx="14">
                  <c:v>0.63049999999999995</c:v>
                </c:pt>
                <c:pt idx="15">
                  <c:v>0.62809999999999999</c:v>
                </c:pt>
                <c:pt idx="16">
                  <c:v>0.62729999999999997</c:v>
                </c:pt>
                <c:pt idx="17">
                  <c:v>0.62129999999999996</c:v>
                </c:pt>
                <c:pt idx="18">
                  <c:v>0.61609999999999998</c:v>
                </c:pt>
                <c:pt idx="19">
                  <c:v>0.62209999999999999</c:v>
                </c:pt>
                <c:pt idx="20">
                  <c:v>0.61650000000000005</c:v>
                </c:pt>
                <c:pt idx="21">
                  <c:v>0.62090000000000001</c:v>
                </c:pt>
                <c:pt idx="22">
                  <c:v>0.61609999999999998</c:v>
                </c:pt>
                <c:pt idx="23">
                  <c:v>0.62370000000000003</c:v>
                </c:pt>
                <c:pt idx="24">
                  <c:v>0.61809999999999998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55-42AF-8FC3-EB5632543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6B6B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45"/>
        </c:scaling>
        <c:delete val="0"/>
        <c:axPos val="l"/>
        <c:majorGridlines>
          <c:spPr>
            <a:ln w="12700" cap="flat">
              <a:solidFill>
                <a:srgbClr val="EDE9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6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36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8CA3C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291840" cy="3291840"/>
          </a:xfrm>
          <a:prstGeom prst="ellipse">
            <a:avLst/>
          </a:prstGeom>
          <a:solidFill>
            <a:srgbClr val="E3AFA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389120"/>
            <a:ext cx="3840480" cy="3840480"/>
          </a:xfrm>
          <a:prstGeom prst="ellipse">
            <a:avLst/>
          </a:prstGeom>
          <a:solidFill>
            <a:srgbClr val="C6B6D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5B73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7CE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Samreen Shaikh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50" dirty="0">
                <a:solidFill>
                  <a:srgbClr val="C6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35 WE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6" name="Image 0" descr="/home/claude/proj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1" y="22466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6148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03580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 and why it matters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176272"/>
            <a:ext cx="502920" cy="50292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1" name="Image 1" descr="/home/claude/proj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121" y="224668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76148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303580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structure and quality of the data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176272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16" name="Image 2" descr="/home/claude/proj/icons/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161" y="224668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76148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303580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feature engineering &amp; workflow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913632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21" name="Image 3" descr="/home/claude/proj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81" y="398404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49884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477316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baseline to advanced ML &amp; Deep Learning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297680" y="36576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913632"/>
            <a:ext cx="502920" cy="50292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26" name="Image 4" descr="/home/claude/proj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4121" y="3984041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49884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Comparison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77316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models stack up against each other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46720" y="365760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913632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31" name="Image 5" descr="/home/claude/proj/icons/troph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3161" y="3984041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49884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773168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insights, business impact &amp; next steps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01952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 institution needs to evaluate whether a customer is a Poor, Standard, or Good credit risk using only their monthly demographic, banking and repayment-behaviour data — without relying on slow, manual, and inconsistent credit checks.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3F1E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8" name="Image 0" descr="/home/claude/proj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05445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7091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credit assessment is slow, inconsistent and doesn’t scale across 12,500+ customers.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37033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3F1EC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3977640"/>
            <a:ext cx="548640" cy="54864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12" name="Image 1" descr="/home/claude/proj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530" y="40544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7091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Misclassifying risk brackets can mean lost revenue (Good treated as risky) or bad debt exposure (Poor treated as safe).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37033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3E4C63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3977640"/>
            <a:ext cx="548640" cy="54864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6" name="Image 2" descr="/home/claude/proj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290" y="40544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47091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 Machine Learning classifier that automatically predicts a customer’s Credit Score bracket from their monthly financial profile.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8 months of raw customer financial data into a reliable, automated early-warning system for credit risk.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834640"/>
            <a:ext cx="640080" cy="64008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7" name="Image 0" descr="/home/claude/proj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231" y="29242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Risk Bracket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4297680"/>
            <a:ext cx="22037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customer record into Poor / Standard / Good credit score.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5146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3692" y="2834640"/>
            <a:ext cx="640080" cy="64008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2" name="Image 1" descr="/home/claude/proj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303" y="29242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Fair Lending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4297680"/>
            <a:ext cx="22037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underwriting teams a consistent, explainable, data-driven signal.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5146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55764" y="2834640"/>
            <a:ext cx="640080" cy="64008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7" name="Image 2" descr="/home/claude/proj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375" y="292425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Bad Debt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customers earlier to reduce default exposure.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34856" y="25146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117836" y="2834640"/>
            <a:ext cx="640080" cy="64008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22" name="Image 3" descr="/home/claude/proj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7447" y="292425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736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Monitoring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36024" y="4297680"/>
            <a:ext cx="22037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a customer’s risk profile shifts month to month.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79776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8" name="Text 6"/>
          <p:cNvSpPr/>
          <p:nvPr/>
        </p:nvSpPr>
        <p:spPr>
          <a:xfrm>
            <a:off x="2779776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79776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10912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10912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42048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14" name="Text 12"/>
          <p:cNvSpPr/>
          <p:nvPr/>
        </p:nvSpPr>
        <p:spPr>
          <a:xfrm>
            <a:off x="7242048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42048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(Jan–Aug)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73184" y="169164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3E4C63"/>
          </a:solidFill>
          <a:ln/>
        </p:spPr>
      </p:sp>
      <p:sp>
        <p:nvSpPr>
          <p:cNvPr id="17" name="Text 15"/>
          <p:cNvSpPr/>
          <p:nvPr/>
        </p:nvSpPr>
        <p:spPr>
          <a:xfrm>
            <a:off x="9473184" y="185623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473184" y="24414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154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– "Dataset for Credit Score Classification" (ayushsharma0812)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03320"/>
            <a:ext cx="2606040" cy="109728"/>
          </a:xfrm>
          <a:prstGeom prst="rect">
            <a:avLst/>
          </a:prstGeom>
          <a:solidFill>
            <a:srgbClr val="8CA3C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Occupation, Annual Income, Monthly Salary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10712" y="3703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10712" y="3703320"/>
            <a:ext cx="2606040" cy="109728"/>
          </a:xfrm>
          <a:prstGeom prst="rect">
            <a:avLst/>
          </a:prstGeom>
          <a:solidFill>
            <a:srgbClr val="C6B6D6"/>
          </a:solidFill>
          <a:ln/>
        </p:spPr>
      </p:sp>
      <p:sp>
        <p:nvSpPr>
          <p:cNvPr id="26" name="Text 24"/>
          <p:cNvSpPr/>
          <p:nvPr/>
        </p:nvSpPr>
        <p:spPr>
          <a:xfrm>
            <a:off x="3593592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Profile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93592" y="4480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Accounts, Credit Cards, Interest Rate, Credit Mix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72784" y="3703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2784" y="3703320"/>
            <a:ext cx="2606040" cy="109728"/>
          </a:xfrm>
          <a:prstGeom prst="rect">
            <a:avLst/>
          </a:prstGeom>
          <a:solidFill>
            <a:srgbClr val="E3AFA6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664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Repayment Behaviour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55664" y="4480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Payments, Payment of Min. Amount, Payment Behaviour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34856" y="37033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34856" y="3703320"/>
            <a:ext cx="2606040" cy="109728"/>
          </a:xfrm>
          <a:prstGeom prst="rect">
            <a:avLst/>
          </a:prstGeom>
          <a:solidFill>
            <a:srgbClr val="AFC3AC"/>
          </a:solidFill>
          <a:ln/>
        </p:spPr>
      </p:sp>
      <p:sp>
        <p:nvSpPr>
          <p:cNvPr id="34" name="Text 32"/>
          <p:cNvSpPr/>
          <p:nvPr/>
        </p:nvSpPr>
        <p:spPr>
          <a:xfrm>
            <a:off x="9317736" y="3977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 &amp; Credit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17736" y="4480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Debt, Credit Utilisation, Credit History Age, EMI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Checks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594360" cy="59436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6" name="Image 0" descr="/home/claude/proj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" y="2158898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34640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Month Consistency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474720"/>
            <a:ext cx="2935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every one of the 12,500 customers has exactly 8 monthly records — confirming no missing or duplicated entries.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204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075688"/>
            <a:ext cx="594360" cy="59436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1" name="Image 1" descr="/home/claude/proj/icons/shuff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218" y="2158898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834640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Sequencing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36008" y="3474720"/>
            <a:ext cx="2935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credit_history_age to confirm each customer’s records advance by exactly 1 month with no gaps or shuffled rows.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2044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075688"/>
            <a:ext cx="594360" cy="59436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6" name="Image 2" descr="/home/claude/proj/icons/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978" y="2158898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834640"/>
            <a:ext cx="2935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Score Variability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30768" y="3474720"/>
            <a:ext cx="2935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credit score can legitimately change month-to-month for the same customer — it reflects current + recent financial behaviour.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3F1EC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passed all structural checks — clean to proceed into preprocessing with confidence.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2416" y="3474720"/>
            <a:ext cx="10076688" cy="0"/>
          </a:xfrm>
          <a:prstGeom prst="line">
            <a:avLst/>
          </a:prstGeom>
          <a:noFill/>
          <a:ln w="25400">
            <a:solidFill>
              <a:srgbClr val="D8D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CA3C4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6" name="Image 0" descr="/home/claude/proj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008742"/>
            <a:ext cx="730788" cy="7307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56616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68272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6B6D6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11" name="Image 1" descr="/home/claude/proj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654" y="3008742"/>
            <a:ext cx="730788" cy="7307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99792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399792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476248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Understanding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787904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AFC3AC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16" name="Image 2" descr="/home/claude/proj/icons/br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286" y="3008742"/>
            <a:ext cx="730788" cy="73078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519424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519424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2595880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Fixing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907536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CA3C4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21" name="Image 3" descr="/home/claude/proj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5918" y="3008742"/>
            <a:ext cx="730788" cy="73078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639056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39056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715512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027168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6B6D6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26" name="Image 4" descr="/home/claude/proj/icons/ge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550" y="3008742"/>
            <a:ext cx="730788" cy="73078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58688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75868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835144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46800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AFC3AC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31" name="Image 5" descr="/home/claude/proj/icons/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5182" y="3008742"/>
            <a:ext cx="730788" cy="73078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878320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87832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954776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266432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CA3C4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36" name="Image 6" descr="/home/claude/proj/icons/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4814" y="3008742"/>
            <a:ext cx="730788" cy="73078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7997952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7997952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7074408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8386064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6B6D6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41" name="Image 7" descr="/home/claude/proj/icons/b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4446" y="3008742"/>
            <a:ext cx="730788" cy="730788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9117584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9117584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8194040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9505696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AFC3AC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46" name="Image 8" descr="/home/claude/proj/icons/cha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4078" y="3008742"/>
            <a:ext cx="730788" cy="730788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10237216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10237216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9313672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10625328" y="2880360"/>
            <a:ext cx="987552" cy="98755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CA3C4"/>
            </a:solidFill>
            <a:prstDash val="solid"/>
          </a:ln>
          <a:effectLst>
            <a:outerShdw blurRad="50800" dist="12700" dir="5400000" algn="bl" rotWithShape="0">
              <a:srgbClr val="999999">
                <a:alpha val="15000"/>
              </a:srgbClr>
            </a:outerShdw>
          </a:effectLst>
        </p:spPr>
      </p:sp>
      <p:pic>
        <p:nvPicPr>
          <p:cNvPr id="51" name="Image 9" descr="/home/claude/proj/icons/troph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53710" y="3008742"/>
            <a:ext cx="730788" cy="730788"/>
          </a:xfrm>
          <a:prstGeom prst="rect">
            <a:avLst/>
          </a:prstGeom>
        </p:spPr>
      </p:pic>
      <p:sp>
        <p:nvSpPr>
          <p:cNvPr id="52" name="Shape 40"/>
          <p:cNvSpPr/>
          <p:nvPr/>
        </p:nvSpPr>
        <p:spPr>
          <a:xfrm>
            <a:off x="11356848" y="2788920"/>
            <a:ext cx="292608" cy="292608"/>
          </a:xfrm>
          <a:prstGeom prst="ellipse">
            <a:avLst/>
          </a:prstGeom>
          <a:solidFill>
            <a:srgbClr val="3E4C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1"/>
          <p:cNvSpPr/>
          <p:nvPr/>
        </p:nvSpPr>
        <p:spPr>
          <a:xfrm>
            <a:off x="11356848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10433304" y="3977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linear, auditable pipeline — each stage validated before moving to the next.</a:t>
            </a:r>
            <a:endParaRPr lang="en-US" sz="1300" dirty="0"/>
          </a:p>
        </p:txBody>
      </p:sp>
      <p:sp>
        <p:nvSpPr>
          <p:cNvPr id="56" name="Text 4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Missing Values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stray symbols and underscores (e.g. "39628.99_") from numeric text fields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 — age, income, loans, debt cast to int / float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931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credit_history_age ("X Years Y Months") into total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463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placeholder values (-500, -1, "!@9#%8", "NM") as true nulls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Strategy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057400"/>
          <a:ext cx="5696712" cy="2743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history &amp; delayed 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median by num_credit_card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Income-linked metrics (salary, EMI, investment)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median by income decile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loan / inquiry 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column 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gaps (type of loan)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imputation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(per customer, 8-month history)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across that customer’s own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mix / min-amount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Grouped mode by card count / debt bracket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3E4C63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A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Domain-informed group imputation (not blanket zero-fill) — since every customer already holds an active account, filling with 0 would have corrupted the data.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6" name="Image 0" descr="/home/claude/proj/icons/ge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1" y="20820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933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Behaviour Split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 one messy text field into two clean signals: spending_level (High/Low) and payment_method.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011680"/>
            <a:ext cx="502920" cy="50292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1" name="Image 1" descr="/home/claude/proj/icons/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081" y="20820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933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Multi-label Loan Types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19672" y="25603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type_of_loan held comma-separated multiple loans per customer — one-hot encoded into individual binary loan features.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69080"/>
            <a:ext cx="502920" cy="50292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6" name="Image 2" descr="/home/claude/proj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1" y="41394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Occupation Grouping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4672" y="46177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15+ occupations into 4 broader, meaningful categories: Science, Commerce, Arts, Unemployed.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069080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21" name="Image 3" descr="/home/claude/proj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081" y="413948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for ML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19672" y="46177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credit_mix &amp; credit_score; one-hot encoding for payment_method; numeric mapping for month.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Treatment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Domain-bound Capping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5212080" cy="285292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– 90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accounts / credit cards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from due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60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– 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-2000 – 95th percentile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69164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capping first?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89320" y="214884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3F1EC"/>
          </a:solidFill>
          <a:ln/>
        </p:spPr>
      </p:sp>
      <p:sp>
        <p:nvSpPr>
          <p:cNvPr id="8" name="Text 5"/>
          <p:cNvSpPr/>
          <p:nvPr/>
        </p:nvSpPr>
        <p:spPr>
          <a:xfrm>
            <a:off x="6263640" y="2331720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data-entry glitches (e.g. interest rates in the thousands, a monthly balance of 1e26) would otherwise distort the distribution before any statistical transform is applied — so logical, domain-informed bounds are set first.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3E4C63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5" name="Image 0" descr="/home/claude/proj/icon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7073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Yeo-Johnson Power Transform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91640" y="4956048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14 numeric features to reduce skewness and normalise distributions — improving stability for both the linear baseline and downstream tree-based models.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+ 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7947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606040" cy="384048"/>
          </a:xfrm>
          <a:prstGeom prst="roundRect">
            <a:avLst>
              <a:gd name="adj" fmla="val 33333"/>
            </a:avLst>
          </a:prstGeom>
          <a:solidFill>
            <a:srgbClr val="8CA3C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2606040" cy="201168"/>
          </a:xfrm>
          <a:prstGeom prst="rect">
            <a:avLst/>
          </a:prstGeom>
          <a:solidFill>
            <a:srgbClr val="8CA3C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85900" y="2377440"/>
            <a:ext cx="731520" cy="73152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9" name="Image 0" descr="/home/claude/proj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313" y="2479853"/>
            <a:ext cx="526694" cy="5266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291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397764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interpretable multi-class classifier to establish a performance floor.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10712" y="1783080"/>
            <a:ext cx="2606040" cy="37947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0712" y="1783080"/>
            <a:ext cx="2606040" cy="384048"/>
          </a:xfrm>
          <a:prstGeom prst="roundRect">
            <a:avLst>
              <a:gd name="adj" fmla="val 33333"/>
            </a:avLst>
          </a:prstGeom>
          <a:solidFill>
            <a:srgbClr val="E3AFA6"/>
          </a:solidFill>
          <a:ln/>
        </p:spPr>
      </p:sp>
      <p:sp>
        <p:nvSpPr>
          <p:cNvPr id="14" name="Shape 11"/>
          <p:cNvSpPr/>
          <p:nvPr/>
        </p:nvSpPr>
        <p:spPr>
          <a:xfrm>
            <a:off x="3410712" y="1965960"/>
            <a:ext cx="2606040" cy="201168"/>
          </a:xfrm>
          <a:prstGeom prst="rect">
            <a:avLst/>
          </a:prstGeom>
          <a:solidFill>
            <a:srgbClr val="E3AFA6"/>
          </a:solidFill>
          <a:ln/>
        </p:spPr>
      </p:sp>
      <p:sp>
        <p:nvSpPr>
          <p:cNvPr id="15" name="Text 12"/>
          <p:cNvSpPr/>
          <p:nvPr/>
        </p:nvSpPr>
        <p:spPr>
          <a:xfrm>
            <a:off x="3410712" y="1783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47972" y="2377440"/>
            <a:ext cx="731520" cy="73152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17" name="Image 1" descr="/home/claude/proj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385" y="2479853"/>
            <a:ext cx="526694" cy="52669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47872" y="3291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Classifier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11880" y="397764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(150 estimators, depth 8) — captures non-linear feature interactions.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72784" y="1783080"/>
            <a:ext cx="2606040" cy="37947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72784" y="1783080"/>
            <a:ext cx="2606040" cy="384048"/>
          </a:xfrm>
          <a:prstGeom prst="roundRect">
            <a:avLst>
              <a:gd name="adj" fmla="val 33333"/>
            </a:avLst>
          </a:prstGeom>
          <a:solidFill>
            <a:srgbClr val="C6B6D6"/>
          </a:solidFill>
          <a:ln/>
        </p:spPr>
      </p:sp>
      <p:sp>
        <p:nvSpPr>
          <p:cNvPr id="22" name="Shape 18"/>
          <p:cNvSpPr/>
          <p:nvPr/>
        </p:nvSpPr>
        <p:spPr>
          <a:xfrm>
            <a:off x="6272784" y="1965960"/>
            <a:ext cx="2606040" cy="201168"/>
          </a:xfrm>
          <a:prstGeom prst="rect">
            <a:avLst/>
          </a:prstGeom>
          <a:solidFill>
            <a:srgbClr val="C6B6D6"/>
          </a:solidFill>
          <a:ln/>
        </p:spPr>
      </p:sp>
      <p:sp>
        <p:nvSpPr>
          <p:cNvPr id="23" name="Text 19"/>
          <p:cNvSpPr/>
          <p:nvPr/>
        </p:nvSpPr>
        <p:spPr>
          <a:xfrm>
            <a:off x="6272784" y="1783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210044" y="2377440"/>
            <a:ext cx="731520" cy="73152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25" name="Image 2" descr="/home/claude/proj/icons/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457" y="2479853"/>
            <a:ext cx="526694" cy="52669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9944" y="3291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Tuned XGBoost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73952" y="397764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(15 iters, 3-fold CV) with class-balanced sample weights, optimised on macro-F1.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134856" y="1783080"/>
            <a:ext cx="2606040" cy="37947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34856" y="1783080"/>
            <a:ext cx="2606040" cy="384048"/>
          </a:xfrm>
          <a:prstGeom prst="roundRect">
            <a:avLst>
              <a:gd name="adj" fmla="val 33333"/>
            </a:avLst>
          </a:prstGeom>
          <a:solidFill>
            <a:srgbClr val="AFC3AC"/>
          </a:solidFill>
          <a:ln/>
        </p:spPr>
      </p:sp>
      <p:sp>
        <p:nvSpPr>
          <p:cNvPr id="30" name="Shape 25"/>
          <p:cNvSpPr/>
          <p:nvPr/>
        </p:nvSpPr>
        <p:spPr>
          <a:xfrm>
            <a:off x="9134856" y="1965960"/>
            <a:ext cx="2606040" cy="201168"/>
          </a:xfrm>
          <a:prstGeom prst="rect">
            <a:avLst/>
          </a:prstGeom>
          <a:solidFill>
            <a:srgbClr val="AFC3AC"/>
          </a:solidFill>
          <a:ln/>
        </p:spPr>
      </p:sp>
      <p:sp>
        <p:nvSpPr>
          <p:cNvPr id="31" name="Text 26"/>
          <p:cNvSpPr/>
          <p:nvPr/>
        </p:nvSpPr>
        <p:spPr>
          <a:xfrm>
            <a:off x="9134856" y="1783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10072116" y="2377440"/>
            <a:ext cx="731520" cy="731520"/>
          </a:xfrm>
          <a:prstGeom prst="ellipse">
            <a:avLst/>
          </a:prstGeom>
          <a:solidFill>
            <a:srgbClr val="F3F1EC"/>
          </a:solidFill>
          <a:ln/>
        </p:spPr>
      </p:sp>
      <p:pic>
        <p:nvPicPr>
          <p:cNvPr id="33" name="Image 3" descr="/home/claude/proj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4529" y="2479853"/>
            <a:ext cx="526694" cy="52669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72016" y="3291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(Deep Learning)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9336024" y="397764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RNN using each customer’s full 8-month sequence to predict their final month’s score.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90372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F1-Score (Test Set)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103120"/>
          <a:ext cx="4709160" cy="1371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5B7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(Tuned, CV)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903720" y="3977640"/>
            <a:ext cx="4709160" cy="2011680"/>
          </a:xfrm>
          <a:prstGeom prst="roundRect">
            <a:avLst>
              <a:gd name="adj" fmla="val 5455"/>
            </a:avLst>
          </a:prstGeom>
          <a:solidFill>
            <a:srgbClr val="3E4C63"/>
          </a:solidFill>
          <a:ln/>
        </p:spPr>
      </p:sp>
      <p:sp>
        <p:nvSpPr>
          <p:cNvPr id="8" name="Text 4"/>
          <p:cNvSpPr/>
          <p:nvPr/>
        </p:nvSpPr>
        <p:spPr>
          <a:xfrm>
            <a:off x="7178040" y="4114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Cross-Validated Hyperparameters (Tuned XGBoost)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178040" y="4617720"/>
            <a:ext cx="4160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n_estimators: 300   |   max_depth: 8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learning_rate: 0.1   |   subsample: 0.8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colsample_bytree: 0.7   |   gamma: 0.5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min_child_weight: 7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GETS IT RIGHT (AND WRONG)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XGBoost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credit score on the 29,973-record held-out test set.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23160" y="15544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2316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57800" y="1874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 rot="16200000">
            <a:off x="-83006" y="3237686"/>
            <a:ext cx="1005840" cy="47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23160" y="23317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AABAD0"/>
          </a:solidFill>
          <a:ln w="25400">
            <a:solidFill>
              <a:srgbClr val="C98E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33172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6,359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0" y="23317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E1E4E5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233172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57800" y="233172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CBD3DD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33172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23160" y="333756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EDEDEA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333756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40480" y="333756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BBC7D6"/>
          </a:solidFill>
          <a:ln w="25400">
            <a:solidFill>
              <a:srgbClr val="C98E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33756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3,718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57800" y="333756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CED5DE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333756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23160" y="434340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CBD3DC"/>
          </a:solidFill>
          <a:ln/>
        </p:spPr>
      </p:sp>
      <p:sp>
        <p:nvSpPr>
          <p:cNvPr id="26" name="Text 24"/>
          <p:cNvSpPr/>
          <p:nvPr/>
        </p:nvSpPr>
        <p:spPr>
          <a:xfrm>
            <a:off x="2423160" y="434340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840480" y="434340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D1D7DF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434340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1,385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257800" y="4343400"/>
            <a:ext cx="1344168" cy="932688"/>
          </a:xfrm>
          <a:prstGeom prst="roundRect">
            <a:avLst>
              <a:gd name="adj" fmla="val 7843"/>
            </a:avLst>
          </a:prstGeom>
          <a:solidFill>
            <a:srgbClr val="8CA3C4"/>
          </a:solidFill>
          <a:ln w="25400">
            <a:solidFill>
              <a:srgbClr val="C98E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4343400"/>
            <a:ext cx="1344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12,673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06640" y="1965960"/>
            <a:ext cx="4206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62672" y="2194560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33" name="Image 0" descr="/home/claude/proj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081" y="2264969"/>
            <a:ext cx="362102" cy="36210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321040" y="21762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19,750 correct predictions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662672" y="27889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29,973 — the shaded diagonal, outlined in blush.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662672" y="32918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↔ Standard is the main confusion (1,895 + 1,931 records) — adjacent risk bands blur together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 is almost never mistaken for Poor (only 41 records) — the model rarely confuses opposite extremes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406640" y="452628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3E4C63"/>
          </a:solidFill>
          <a:ln/>
        </p:spPr>
      </p:sp>
      <p:sp>
        <p:nvSpPr>
          <p:cNvPr id="38" name="Text 35"/>
          <p:cNvSpPr/>
          <p:nvPr/>
        </p:nvSpPr>
        <p:spPr>
          <a:xfrm>
            <a:off x="7680960" y="4681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A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Read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68096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mostly land on the neighbouring class rather than jumping across the risk spectrum — a reassuring pattern for lending decisions.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Class-wise Performance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7665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91640"/>
            <a:ext cx="40690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18120" y="1920240"/>
            <a:ext cx="548640" cy="54864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7" name="Image 0" descr="/home/claude/proj/icons/trop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930" y="1997050"/>
            <a:ext cx="395021" cy="39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8120" y="26060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 Overall Accuracy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18120" y="29718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F1: 0.76  •  Macro F1: 0.74  on a held-out test set of 29,973 records.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543800" y="3977640"/>
            <a:ext cx="4069080" cy="2148840"/>
          </a:xfrm>
          <a:prstGeom prst="roundRect">
            <a:avLst>
              <a:gd name="adj" fmla="val 5106"/>
            </a:avLst>
          </a:prstGeom>
          <a:solidFill>
            <a:srgbClr val="F3F1EC"/>
          </a:solidFill>
          <a:ln/>
        </p:spPr>
      </p:sp>
      <p:sp>
        <p:nvSpPr>
          <p:cNvPr id="11" name="Text 7"/>
          <p:cNvSpPr/>
          <p:nvPr/>
        </p:nvSpPr>
        <p:spPr>
          <a:xfrm>
            <a:off x="7818120" y="4160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7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Classes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818120" y="4526280"/>
            <a:ext cx="3520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is easiest to predict (F1 0.79) — majority class with clearer patterns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 is hardest (F1 0.69) — fewer examples, closer to Standard behaviour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is well separated (F1 0.75) — distinctive risk signals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Model —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feeds each customer’s full 8-month history as a sequence — letting the network learn temporal patterns rather than a single snapshot.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40380" y="3268980"/>
            <a:ext cx="502920" cy="0"/>
          </a:xfrm>
          <a:prstGeom prst="line">
            <a:avLst/>
          </a:prstGeom>
          <a:noFill/>
          <a:ln w="31750">
            <a:solidFill>
              <a:srgbClr val="8CA3C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54380" y="2514600"/>
            <a:ext cx="22860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4772" y="2715768"/>
            <a:ext cx="585216" cy="585216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8" name="Image 0" descr="/home/claude/proj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702" y="2797698"/>
            <a:ext cx="421356" cy="4213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154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Sequence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1540" y="3666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(12,488, 8, 32)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× months × features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29300" y="3268980"/>
            <a:ext cx="502920" cy="0"/>
          </a:xfrm>
          <a:prstGeom prst="line">
            <a:avLst/>
          </a:prstGeom>
          <a:noFill/>
          <a:ln w="31750">
            <a:solidFill>
              <a:srgbClr val="8CA3C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43300" y="2514600"/>
            <a:ext cx="22860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93692" y="2715768"/>
            <a:ext cx="585216" cy="585216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4" name="Image 1" descr="/home/claude/proj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622" y="2797698"/>
            <a:ext cx="421356" cy="4213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046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Layer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80460" y="3666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units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 = False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618220" y="3268980"/>
            <a:ext cx="502920" cy="0"/>
          </a:xfrm>
          <a:prstGeom prst="line">
            <a:avLst/>
          </a:prstGeom>
          <a:noFill/>
          <a:ln w="31750">
            <a:solidFill>
              <a:srgbClr val="8CA3C4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332220" y="2514600"/>
            <a:ext cx="22860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82612" y="2715768"/>
            <a:ext cx="585216" cy="585216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20" name="Image 2" descr="/home/claude/proj/icons/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542" y="2797698"/>
            <a:ext cx="421356" cy="4213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6938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69380" y="3666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0.3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9121140" y="2514600"/>
            <a:ext cx="228600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762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71532" y="2715768"/>
            <a:ext cx="585216" cy="585216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25" name="Image 3" descr="/home/claude/proj/icons/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462" y="2797698"/>
            <a:ext cx="421356" cy="4213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5830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+ Softmax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258300" y="3666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units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/ Good / Standard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548640" y="4663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3E4C63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800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11,955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548640" y="53218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410712" y="4663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3E4C63"/>
          </a:solidFill>
          <a:ln/>
        </p:spPr>
      </p:sp>
      <p:sp>
        <p:nvSpPr>
          <p:cNvPr id="32" name="Text 26"/>
          <p:cNvSpPr/>
          <p:nvPr/>
        </p:nvSpPr>
        <p:spPr>
          <a:xfrm>
            <a:off x="3410712" y="4800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3410712" y="53218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272784" y="4663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3E4C63"/>
          </a:solidFill>
          <a:ln/>
        </p:spPr>
      </p:sp>
      <p:sp>
        <p:nvSpPr>
          <p:cNvPr id="35" name="Text 29"/>
          <p:cNvSpPr/>
          <p:nvPr/>
        </p:nvSpPr>
        <p:spPr>
          <a:xfrm>
            <a:off x="6272784" y="4800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000" dirty="0"/>
          </a:p>
        </p:txBody>
      </p:sp>
      <p:sp>
        <p:nvSpPr>
          <p:cNvPr id="36" name="Text 30"/>
          <p:cNvSpPr/>
          <p:nvPr/>
        </p:nvSpPr>
        <p:spPr>
          <a:xfrm>
            <a:off x="6272784" y="53218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9134856" y="4663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3E4C63"/>
          </a:solidFill>
          <a:ln/>
        </p:spPr>
      </p:sp>
      <p:sp>
        <p:nvSpPr>
          <p:cNvPr id="38" name="Text 32"/>
          <p:cNvSpPr/>
          <p:nvPr/>
        </p:nvSpPr>
        <p:spPr>
          <a:xfrm>
            <a:off x="9134856" y="4800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</a:t>
            </a:r>
            <a:endParaRPr lang="en-US" sz="2000" dirty="0"/>
          </a:p>
        </p:txBody>
      </p:sp>
      <p:sp>
        <p:nvSpPr>
          <p:cNvPr id="39" name="Text 33"/>
          <p:cNvSpPr/>
          <p:nvPr/>
        </p:nvSpPr>
        <p:spPr>
          <a:xfrm>
            <a:off x="9134856" y="53218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optimiser • sparse categorical cross-entropy loss • class-weighted to address Poor/Good/Standard imbalance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— Training Performance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605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26680" y="1920240"/>
            <a:ext cx="548640" cy="54864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7" name="Image 0" descr="/home/claude/proj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490" y="1997050"/>
            <a:ext cx="395021" cy="39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26060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Widens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26680" y="29718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climbs to ~70% while validation accuracy plateaus and drifts around ~61–62% — the network is memorising training-set noise rather than generalising.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452360" y="3931920"/>
            <a:ext cx="4160520" cy="2057400"/>
          </a:xfrm>
          <a:prstGeom prst="roundRect">
            <a:avLst>
              <a:gd name="adj" fmla="val 5333"/>
            </a:avLst>
          </a:prstGeom>
          <a:solidFill>
            <a:srgbClr val="3E4C63"/>
          </a:solidFill>
          <a:ln/>
        </p:spPr>
      </p:sp>
      <p:sp>
        <p:nvSpPr>
          <p:cNvPr id="11" name="Text 7"/>
          <p:cNvSpPr/>
          <p:nvPr/>
        </p:nvSpPr>
        <p:spPr>
          <a:xfrm>
            <a:off x="7726680" y="409651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3A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XGBoost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26680" y="443484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test accuracy: ~61%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test accuracy: 76%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dataset, engineered tabular features carry more signal than raw sequence order — tree-based models win.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6" name="Image 0" descr="/home/claude/proj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1" y="20820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93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Tree-based models win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outperforms both Logistic Regression and the RNN sequential model on this tabular, feature-rich dataset.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011680"/>
            <a:ext cx="502920" cy="502920"/>
          </a:xfrm>
          <a:prstGeom prst="ellipse">
            <a:avLst/>
          </a:prstGeom>
          <a:solidFill>
            <a:srgbClr val="E3AFA6"/>
          </a:solidFill>
          <a:ln/>
        </p:spPr>
      </p:sp>
      <p:pic>
        <p:nvPicPr>
          <p:cNvPr id="11" name="Image 1" descr="/home/claude/proj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081" y="20820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93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didn’t generalise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19672" y="25603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RNN model overfit (70% train vs 61% test accuracy) — the dataset favours engineered tabular features over raw sequences.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69080"/>
            <a:ext cx="502920" cy="502920"/>
          </a:xfrm>
          <a:prstGeom prst="ellipse">
            <a:avLst/>
          </a:prstGeom>
          <a:solidFill>
            <a:srgbClr val="C6B6D6"/>
          </a:solidFill>
          <a:ln/>
        </p:spPr>
      </p:sp>
      <p:pic>
        <p:nvPicPr>
          <p:cNvPr id="16" name="Image 2" descr="/home/claude/proj/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1" y="41394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50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matters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4672" y="46177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"Good" class (fewest customers) is consistently hardest to predict — a candidate for targeted resampling or cost-sensitive learning.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3DA"/>
            </a:solidFill>
            <a:prstDash val="solid"/>
          </a:ln>
          <a:effectLst>
            <a:outerShdw blurRad="63500" dist="25400" dir="5400000" algn="bl" rotWithShape="0">
              <a:srgbClr val="999999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069080"/>
            <a:ext cx="502920" cy="502920"/>
          </a:xfrm>
          <a:prstGeom prst="ellipse">
            <a:avLst/>
          </a:prstGeom>
          <a:solidFill>
            <a:srgbClr val="AFC3AC"/>
          </a:solidFill>
          <a:ln/>
        </p:spPr>
      </p:sp>
      <p:pic>
        <p:nvPicPr>
          <p:cNvPr id="21" name="Image 3" descr="/home/claude/proj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081" y="413948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50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deployment support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519672" y="461772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76% accuracy, the model can pre-screen applications and prioritise manual review for borderline cases.</a:t>
            </a:r>
            <a:endParaRPr lang="en-US" sz="103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E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8CA3C4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114800" cy="4114800"/>
          </a:xfrm>
          <a:prstGeom prst="ellipse">
            <a:avLst/>
          </a:prstGeom>
          <a:solidFill>
            <a:srgbClr val="E3AFA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6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delivered the strongest, most reliable results — balancing accuracy and interpretability for credit risk classification.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8" name="Image 0" descr="/home/claude/proj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258500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487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 / cost-sensitive learning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3444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further improve recall on the minority "Good" class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251460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12" name="Image 1" descr="/home/claude/proj/icons/ge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049" y="2585009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2487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&amp; SHAP analysis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94944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predictions explainable for credit officers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16" name="Image 2" descr="/home/claude/proj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9" y="404804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950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Sequence-aware architectures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34440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attention-based models, to better exploit the 8-month history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02920" cy="502920"/>
          </a:xfrm>
          <a:prstGeom prst="ellipse">
            <a:avLst/>
          </a:prstGeom>
          <a:solidFill>
            <a:srgbClr val="8CA3C4"/>
          </a:solidFill>
          <a:ln/>
        </p:spPr>
      </p:sp>
      <p:pic>
        <p:nvPicPr>
          <p:cNvPr id="20" name="Image 3" descr="/home/claude/proj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049" y="4048049"/>
            <a:ext cx="362102" cy="3621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3950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monitoring pipeline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949440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track drift as customer behaviour evolves over time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E4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C6B6D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840480" cy="3840480"/>
          </a:xfrm>
          <a:prstGeom prst="ellipse">
            <a:avLst/>
          </a:prstGeom>
          <a:solidFill>
            <a:srgbClr val="8CA3C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1657</Words>
  <Application>Microsoft Office PowerPoint</Application>
  <PresentationFormat>Widescreen</PresentationFormat>
  <Paragraphs>304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Samreen Shaikh</cp:lastModifiedBy>
  <cp:revision>11</cp:revision>
  <dcterms:created xsi:type="dcterms:W3CDTF">2026-07-25T16:22:48Z</dcterms:created>
  <dcterms:modified xsi:type="dcterms:W3CDTF">2026-07-26T05:17:17Z</dcterms:modified>
</cp:coreProperties>
</file>